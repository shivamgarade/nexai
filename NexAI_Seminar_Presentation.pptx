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594360"/>
            <a:ext cx="9997135" cy="384048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5803D"/>
                </a:solidFill>
                <a:latin typeface="Times New Roman"/>
              </a:defRPr>
            </a:pPr>
            <a:r>
              <a:t>MAHARASHTRA STATE BOARD OF TECHNICAL EDUCATION, MUMBAI (MSBTE K-SCHEME)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971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SEMINAR AND PROJECT INITIATION PRESENTATION | COURSE CODE: 315003 | SEMESTER -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08760"/>
            <a:ext cx="999713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/>
          <a:lstStyle/>
          <a:p>
            <a:pPr algn="ctr">
              <a:defRPr sz="3800" b="1">
                <a:solidFill>
                  <a:srgbClr val="16A34A"/>
                </a:solidFill>
                <a:latin typeface="Times New Roman"/>
              </a:defRPr>
            </a:pPr>
            <a:r>
              <a:t>NexAI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t>AI-POWERED PERSONAL &amp; DEVELOPER WORKSPACE WITH UTILITY-METERED BILLING AND GROUNDED RAG</a:t>
            </a:r>
          </a:p>
          <a:p>
            <a:pPr algn="ctr">
              <a:spcBef>
                <a:spcPts val="400"/>
              </a:spcBef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A Monorepo SaaS Platform Resolving Developer Tool Fragmentation and Flat-Rate AI Subscription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886200"/>
            <a:ext cx="31546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b="1" sz="1050">
                <a:solidFill>
                  <a:srgbClr val="16A34A"/>
                </a:solidFill>
                <a:latin typeface="Times New Roman"/>
              </a:defRPr>
            </a:pPr>
            <a:r>
              <a:t>SUBMITTED BY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Candidate Name (Lead) (Enrollment No.: 2200000001)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Project Partner 2 (Enrollment No.: 2200000002)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Project Partner 3 (Enrollment No.: 2200000003)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Project Partner 4 (Enrollment No.: 2200000004)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6" y="3886200"/>
            <a:ext cx="31546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b="1" sz="1050">
                <a:solidFill>
                  <a:srgbClr val="6366F1"/>
                </a:solidFill>
                <a:latin typeface="Times New Roman"/>
              </a:defRPr>
            </a:pPr>
            <a:r>
              <a:t>UNDER THE GUIDANCE OF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Times New Roman"/>
              </a:defRPr>
            </a:pPr>
            <a:r>
              <a:t>Internal Guide:</a:t>
            </a:r>
          </a:p>
          <a:p>
            <a:pPr>
              <a:defRPr sz="900">
                <a:solidFill>
                  <a:srgbClr val="334155"/>
                </a:solidFill>
                <a:latin typeface="Times New Roman"/>
              </a:defRPr>
            </a:pPr>
            <a:r>
              <a:t>Prof. Faculty Guide Name</a:t>
            </a:r>
            <a:br/>
            <a:r>
              <a:t>Dept. of Computer Engineering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Times New Roman"/>
              </a:defRPr>
            </a:pPr>
            <a:r>
              <a:t>Head of Department:</a:t>
            </a:r>
          </a:p>
          <a:p>
            <a:pPr>
              <a:defRPr sz="900">
                <a:solidFill>
                  <a:srgbClr val="334155"/>
                </a:solidFill>
                <a:latin typeface="Times New Roman"/>
              </a:defRPr>
            </a:pPr>
            <a:r>
              <a:t>Prof. H.O.D. Name</a:t>
            </a:r>
            <a:br/>
            <a:r>
              <a:t>Dept. of Computer Technology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  <a:latin typeface="Times New Roman"/>
              </a:defRPr>
            </a:pPr>
            <a:r>
              <a:t>Head of Institute:</a:t>
            </a:r>
          </a:p>
          <a:p>
            <a:pPr>
              <a:defRPr sz="900">
                <a:solidFill>
                  <a:srgbClr val="334155"/>
                </a:solidFill>
                <a:latin typeface="Times New Roman"/>
              </a:defRPr>
            </a:pPr>
            <a:r>
              <a:t>Dr. Principal Name</a:t>
            </a:r>
            <a:br/>
            <a:r>
              <a:t>Government Polytechnic / Institute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36992" y="3886200"/>
            <a:ext cx="31546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/>
          <a:lstStyle/>
          <a:p>
            <a:pPr algn="ctr">
              <a:defRPr b="1" sz="1050">
                <a:solidFill>
                  <a:srgbClr val="D97706"/>
                </a:solidFill>
                <a:latin typeface="Times New Roman"/>
              </a:defRPr>
            </a:pPr>
            <a:r>
              <a:t>ACADEMIC INSTITUTION</a:t>
            </a:r>
          </a:p>
          <a:p>
            <a:pPr>
              <a:spcBef>
                <a:spcPts val="600"/>
              </a:spcBef>
              <a:defRPr b="1" sz="1000">
                <a:solidFill>
                  <a:srgbClr val="0F172A"/>
                </a:solidFill>
                <a:latin typeface="Times New Roman"/>
              </a:defRPr>
            </a:pPr>
            <a:r>
              <a:t>THIRD YEAR DIPLOMA IN</a:t>
            </a:r>
            <a:br/>
            <a:r>
              <a:t>COMPUTER ENGINEERING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Government Polytechnic / Institute of Technology</a:t>
            </a:r>
            <a:br/>
            <a:r>
              <a:t>(Affiliated to MSBTE, Mumbai)</a:t>
            </a:r>
          </a:p>
          <a:p>
            <a:pPr>
              <a:spcBef>
                <a:spcPts val="800"/>
              </a:spcBef>
              <a:defRPr b="1" sz="950">
                <a:solidFill>
                  <a:srgbClr val="15803D"/>
                </a:solidFill>
                <a:latin typeface="Times New Roman"/>
              </a:defRPr>
            </a:pPr>
            <a:r>
              <a:t>Academic Year: 2025 – 2026</a:t>
            </a:r>
            <a:br/>
            <a:r>
              <a:t>Semester V (Winter Examination)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ANNEXURE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TABLE OF CONTENTS / SEMINAR PRESENTATION INDEX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Structured in strict accordance with MSBTE Course Code: 315003 syllabus sections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91640"/>
          <a:ext cx="107277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449470"/>
                <a:gridCol w="914400"/>
                <a:gridCol w="4449470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SR. NO.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TOPIC / CHAPTER NAME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SR. NO.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TOPIC / CHAPTER NAME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Abstract of Seminar &amp; Purpose (Slide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Project Initiation: Resources (Slide 9)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Chapter 1: Introduction &amp; Background (Slide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System Architecture &amp; Data Flow (Slide 10)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Chapter 2: Literature Review &amp; Analysis (Slide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Core Modules &amp; Technical Working (Slide 11)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Project Initiation: Problem Statement (Slide 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Advantages &amp; Disadvantages (Slide 12)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Project Initiation: Scope &amp; Objectives (Slide 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Action Plan &amp; Prototyping Progress (Slide 13)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Project Initiation: Stakeholder Analysis (Slide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Conclusion &amp; References (Slides 14 &amp; 15)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SECTION IX.5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ABSTRACT OF SEMINAR PAPER &amp; PURPOSE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Executive summary of the technical topic, research justification, and engineering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62179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15803D"/>
                </a:solidFill>
                <a:latin typeface="Times New Roman"/>
              </a:defRPr>
            </a:pPr>
            <a:r>
              <a:t>PURPOSE OF SEMINAR &amp; METHODOLOGY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The purpose of this seminar is to analyze modern developer workflow fragmentation and investigate a full-stack engineering solution that eliminates the financial barrier of flat-rate AI subscriptions.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Generative AI tools currently enforce rigid $20/month (~₹2,000/mo) subscriptions. For students and casual developers executing intermittent prompts, this model represents an unfair cost barrier.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We present NexAI: an AI orchestration and personal knowledge workspace combining real-time streaming LLMs (Google Gemini 3.5 Flash-Lite), Pinecone dense vector retrieval (RAG), and a transparent, atomic token-to-credit metering engine.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The methodology encompasses a client-server monorepo (React 19 + Express), Human-in-the-Loop review gates to prevent hallucinations, and sustainable 100% free-tier cloud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91640"/>
            <a:ext cx="43278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/>
          <a:lstStyle/>
          <a:p>
            <a:pPr algn="ctr">
              <a:defRPr b="1" sz="1050">
                <a:solidFill>
                  <a:srgbClr val="16A34A"/>
                </a:solidFill>
                <a:latin typeface="Times New Roman"/>
              </a:defRPr>
            </a:pPr>
            <a:r>
              <a:t>PILLAR 1: 100% FREE-TIER ARCHITECTURE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Operates entirely within managed zero-cost cloud tiers: MongoDB Atlas M0, Render Web Services, Pinecone Starter, and Gemini Free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209544"/>
            <a:ext cx="43278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/>
          <a:lstStyle/>
          <a:p>
            <a:pPr algn="ctr">
              <a:defRPr b="1" sz="1050">
                <a:solidFill>
                  <a:srgbClr val="6366F1"/>
                </a:solidFill>
                <a:latin typeface="Times New Roman"/>
              </a:defRPr>
            </a:pPr>
            <a:r>
              <a:t>PILLAR 2: TRUE MICRO-UTILITY METERING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Eliminates ₹2,000/month subscriptions; credits calculated honestly from real usage: credits = ceil(totalTokens / 100).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727448"/>
            <a:ext cx="43278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182880" rIns="182880"/>
          <a:lstStyle/>
          <a:p>
            <a:pPr algn="ctr">
              <a:defRPr b="1" sz="1050">
                <a:solidFill>
                  <a:srgbClr val="D97706"/>
                </a:solidFill>
                <a:latin typeface="Times New Roman"/>
              </a:defRPr>
            </a:pPr>
            <a:r>
              <a:t>PILLAR 3: HUMAN-IN-THE-LOOP INTEGRITY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Guarantees data integrity by enforcing a strict Suggest -&gt; Review -&gt; Confirm workflow before any AI output is committed.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CHAPTER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BACKGROUND OF SEMINAR: THE GENERATIVE AI SHIFT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Evolution of AI tools from isolated chat wrappers to context-aware developer workspaces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564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200">
                <a:solidFill>
                  <a:srgbClr val="0F172A"/>
                </a:solidFill>
                <a:latin typeface="Times New Roman"/>
              </a:defRPr>
            </a:pPr>
            <a:r>
              <a:t>THE AI REVOLUTION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Times New Roman"/>
              </a:defRPr>
            </a:pPr>
            <a:r>
              <a:t>Adoption in Engineering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Widespread adoption of Large Language Models (LLMs) like Google Gemini and Claude.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Developers rely on conversational AI for architectural design, code review, and debugging.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Initial products were standalone web chats with isolated, non-persistent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691640"/>
            <a:ext cx="34564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200">
                <a:solidFill>
                  <a:srgbClr val="0F172A"/>
                </a:solidFill>
                <a:latin typeface="Times New Roman"/>
              </a:defRPr>
            </a:pPr>
            <a:r>
              <a:t>THE FRAGMENTATION CRISIS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Times New Roman"/>
              </a:defRPr>
            </a:pPr>
            <a:r>
              <a:t>Cognitive Sinks &amp; Data Silos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Users juggle 4+ disconnected tools: chats, note repositories, snippet managers, and viva prep.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High-value prompts and insights remain trapped inside ephemeral conversational histories.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Constant context-switching results in cognitive fatigue and lost personal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691640"/>
            <a:ext cx="34564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200">
                <a:solidFill>
                  <a:srgbClr val="15803D"/>
                </a:solidFill>
                <a:latin typeface="Times New Roman"/>
              </a:defRPr>
            </a:pPr>
            <a:r>
              <a:t>THE NEXAI PARADIGM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Times New Roman"/>
              </a:defRPr>
            </a:pPr>
            <a:r>
              <a:t>Unified Developer Workspace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Consolidates conversational AI, grounded personal notes, and viva prep into a single client.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Replaces disconnected apps with a cohesive, privacy-respecting developer environment.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Engineered as a full-stack SaaS platform providing honest utility metering and RAG.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CHAPTER 2: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COMPARATIVE MARKET ANALYSIS &amp; RESEARCH GAPS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Critical survey of commercial solutions establishing the necessity for NexAI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916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057400"/>
                <a:gridCol w="2057400"/>
                <a:gridCol w="2057400"/>
                <a:gridCol w="24231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EVALUATION PARAMETER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CHATGPT PLUS (OPENAI)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NOTION AI (NOTION)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HOBBYIST AI WRAPPERS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NEXAI WORKSPACE (OURS)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Pricing &amp; Billing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Flat $20/month (~₹2,000/mo)</a:t>
                      </a:r>
                      <a:br/>
                      <a:r>
                        <a:t>Unfair for casual/light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Flat $10/user/mo add-on</a:t>
                      </a:r>
                      <a:br/>
                      <a:r>
                        <a:t>Requires parent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Free / Unmonetized</a:t>
                      </a:r>
                      <a:br/>
                      <a:r>
                        <a:t>No billing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True Utility Token Metering</a:t>
                      </a:r>
                      <a:br/>
                      <a:r>
                        <a:t>1 cr / 100 tokens; ₹49 recharge pack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Personal Knowledge 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None; Ephemeral chat thread history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Integrated text workspace;</a:t>
                      </a:r>
                      <a:br/>
                      <a:r>
                        <a:t>No prompt vault or viva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None; State lost upon session termination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Consolidated Polymorphic Vault</a:t>
                      </a:r>
                      <a:br/>
                      <a:r>
                        <a:t>Notes, Links, Docs, Audio Reports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Semantic Vector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Limited to manual attachment per individual thread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Basic workspace keyword / semantic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None; Raw prompt pass-through directly to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Pinecone Vector RAG</a:t>
                      </a:r>
                      <a:br/>
                      <a:r>
                        <a:t>768-dim Gemini text-embedding-004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Viva / Interview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Text-only prompts;</a:t>
                      </a:r>
                      <a:br/>
                      <a:r>
                        <a:t>No structured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None; Document editing tool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Real-Time Voice Mock Viva</a:t>
                      </a:r>
                      <a:br/>
                      <a:r>
                        <a:t>Web Speech STT/TTS + Rubric Card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AI Governance &amp;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Auto-saves raw chat output without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In-line text replacement;</a:t>
                      </a:r>
                      <a:br/>
                      <a:r>
                        <a:t>Risks overwriting user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0">
                          <a:solidFill>
                            <a:srgbClr val="334155"/>
                          </a:solidFill>
                          <a:latin typeface="Times New Roman"/>
                        </a:defRPr>
                      </a:pPr>
                      <a:r>
                        <a:t>Blind database mutations without auditing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5803D"/>
                          </a:solidFill>
                          <a:latin typeface="Times New Roman"/>
                        </a:defRPr>
                      </a:pPr>
                      <a:r>
                        <a:t>Suggest -&gt; Review -&gt; Confirm</a:t>
                      </a:r>
                      <a:br/>
                      <a:r>
                        <a:t>Zero silent mutations; Human-in-loop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PROJECT INITIATION (SECTION 13.A)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INNOVATIVE PROBLEM STATEMENT &amp; TECHNICAL JUSTIFICATION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Defining the core technical bottlenecks and why traditional solutions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DC2626"/>
                </a:solidFill>
                <a:latin typeface="Times New Roman"/>
              </a:defRPr>
            </a:pPr>
            <a:r>
              <a:t>THE DUAL INDUSTRY FRICTION POINTS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Friction 1: Workflow &amp; Tool Fragmentation: Developers constantly context-switch across disconnected chat, note, and snippet platforms, dissipating intellectual focus and creating unsearchable information silos.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Friction 2: Prohibitive Flat-Rate AI Subscriptions: Mainstream AI platforms enforce rigid $20/month (~₹2,000/mo) flat subscriptions. A student sending 15 prompts a month pays the exact same fee as a commercial enterprise user.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Friction 3: Wrapper Fragility &amp; Mutation Risks: Conventional AI wrappers pass ungrounded prompts to LLMs and blindly persist unverified responses into user databases, permanently polluting notes with hallucinations.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285232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15803D"/>
                </a:solidFill>
                <a:latin typeface="Times New Roman"/>
              </a:defRPr>
            </a:pPr>
            <a:r>
              <a:t>ESTABLISHMENT OF INNOVATIVE SOLUTION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1. Micro-Utility Token Economics: Replaces rigid monthly subscriptions with honest, token-derived billing: credits = ceil(totalTokens / 100), enabling micro-payments as low as ₹49.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2. Grounded Personal RAG: Integrates Pinecone Serverless vector retrieval to ensure AI answers are grounded in user-owned notes and documents, eliminating hallucinations.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3. Human-in-the-Loop Governance: Enforces a strict Suggest -&gt; Review -&gt; Confirm pattern; no AI summary, tag, or document is ever written to the database without explicit user approval.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4. Authentic Oral Defense Simulation: Incorporates dynamic voice ripples and browser STT/TTS to prepare students for real-world academic viva examinations.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PROJECT INITIATION (SECTION 13.B)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PROJECT SCOPE, BOUNDARIES &amp; MEASURABLE OBJECTIVES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Establishing clear technical boundaries and measurable engineering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15803D"/>
                </a:solidFill>
                <a:latin typeface="Times New Roman"/>
              </a:defRPr>
            </a:pPr>
            <a:r>
              <a:t>CLEAR &amp; MEASURABLE OBJECTIVES</a:t>
            </a:r>
          </a:p>
          <a:p>
            <a:pPr algn="just">
              <a:spcBef>
                <a:spcPts val="5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Objective 1: Engineer a distraction-free conversational canvas with real-time SSE token streaming via Google Gemini 3.5 Flash-Lite.</a:t>
            </a:r>
          </a:p>
          <a:p>
            <a:pPr algn="just">
              <a:spcBef>
                <a:spcPts val="5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Objective 2: Build a tenant-isolated Retrieval-Augmented Generation (RAG) pipeline using Gemini text-embedding-004 and Pinecone Serverless vector storage.</a:t>
            </a:r>
          </a:p>
          <a:p>
            <a:pPr algn="just">
              <a:spcBef>
                <a:spcPts val="5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Objective 3: Implement an honest utility metering engine deducting credits atomically: credits = ceil(totalTokens / 100), backed by Razorpay Test Mode.</a:t>
            </a:r>
          </a:p>
          <a:p>
            <a:pPr algn="just">
              <a:spcBef>
                <a:spcPts val="5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Objective 4: Develop a speech-driven AI Mock Interview simulator with dynamic audio ripple visualization and automated competency scorecard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2852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6366F1"/>
                </a:solidFill>
                <a:latin typeface="Times New Roman"/>
              </a:defRPr>
            </a:pPr>
            <a:r>
              <a:t>ESTABLISHED BOUNDARIES &amp; DELIVERABLES</a:t>
            </a:r>
          </a:p>
          <a:p>
            <a:pPr>
              <a:spcBef>
                <a:spcPts val="600"/>
              </a:spcBef>
              <a:defRPr b="1" sz="1000">
                <a:solidFill>
                  <a:srgbClr val="0F172A"/>
                </a:solidFill>
                <a:latin typeface="Times New Roman"/>
              </a:defRPr>
            </a:pPr>
            <a:r>
              <a:t>IN-SCOPE CORE DELIVERABLES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Single-page client-server monorepo with Vite &amp; React 19.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Stateless JWT authentication and Google OAuth2 integration.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Polymorphic Knowledge Library with pdf-lib document export.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Variable-Driven Prompt Vault with {{variable}} interpolation.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Role-gated admin portal tracking real-time API token burn.</a:t>
            </a:r>
          </a:p>
          <a:p>
            <a:pPr>
              <a:spcBef>
                <a:spcPts val="600"/>
              </a:spcBef>
              <a:defRPr b="1" sz="1000">
                <a:solidFill>
                  <a:srgbClr val="D97706"/>
                </a:solidFill>
                <a:latin typeface="Times New Roman"/>
              </a:defRPr>
            </a:pPr>
            <a:r>
              <a:t>DELIBERATELY DEFERRED (FUTURE SCOPE)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Companion Browser Extension: Deferred to avoid cross-platform codebase bloat.</a:t>
            </a:r>
          </a:p>
          <a:p>
            <a:pPr algn="just">
              <a:spcBef>
                <a:spcPts val="2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  - Diffusion Image Generation: Deferred to preserve 100% zero-cost API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PROJECT INITIATION (SECTION 13.C)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STAKEHOLDER IDENTIFICATION &amp; ANALYSIS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Detailed assessment of user categories, organizational needs, and platform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64592" rIns="164592"/>
          <a:lstStyle/>
          <a:p>
            <a:pPr algn="ctr">
              <a:defRPr b="1" sz="1050">
                <a:solidFill>
                  <a:srgbClr val="16A34A"/>
                </a:solidFill>
                <a:latin typeface="Times New Roman"/>
              </a:defRPr>
            </a:pPr>
            <a:r>
              <a:t>ENGINEERING &amp; DIPLOMA STUDENTS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Times New Roman"/>
              </a:defRPr>
            </a:pPr>
            <a:r>
              <a:t>Primary End-Users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Need affordable access to cutting-edge AI models without paying ₹2,000/month.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Require realistic oral viva defense simulation to prepare for final MSBTE exams.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Require a structured personal repository to store capstone research notes and code snippets.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2578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64592" rIns="164592"/>
          <a:lstStyle/>
          <a:p>
            <a:pPr algn="ctr">
              <a:defRPr b="1" sz="1050">
                <a:solidFill>
                  <a:srgbClr val="6366F1"/>
                </a:solidFill>
                <a:latin typeface="Times New Roman"/>
              </a:defRPr>
            </a:pPr>
            <a:r>
              <a:t>INDEPENDENT SOFTWARE DEVELOPERS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Times New Roman"/>
              </a:defRPr>
            </a:pPr>
            <a:r>
              <a:t>Technical Practitioners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Require project-scoped conversational memory without context contamination across repositories.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Need variable-driven prompt templates to automate boilerplate code reviews and refactoring.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Demand audited token telemetry to track generation latency and exact credit expenditure.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64592" rIns="164592"/>
          <a:lstStyle/>
          <a:p>
            <a:pPr algn="ctr">
              <a:defRPr b="1" sz="1050">
                <a:solidFill>
                  <a:srgbClr val="D97706"/>
                </a:solidFill>
                <a:latin typeface="Times New Roman"/>
              </a:defRPr>
            </a:pPr>
            <a:r>
              <a:t>ACADEMIC MENTORS &amp; FACULTY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Times New Roman"/>
              </a:defRPr>
            </a:pPr>
            <a:r>
              <a:t>Educational Supervisors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Require transparent verification tools to assess student project depth and avoid AI plagiarism.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Benefit from objective competency scorecards generated during student mock viva sessions.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Can review structured student action plans, project diaries, and verified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64592" rIns="164592"/>
          <a:lstStyle/>
          <a:p>
            <a:pPr algn="ctr">
              <a:defRPr b="1" sz="1050">
                <a:solidFill>
                  <a:srgbClr val="15803D"/>
                </a:solidFill>
                <a:latin typeface="Times New Roman"/>
              </a:defRPr>
            </a:pPr>
            <a:r>
              <a:t>SAAS PRODUCT OPERATORS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Times New Roman"/>
              </a:defRPr>
            </a:pPr>
            <a:r>
              <a:t>Platform Maintainers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Require sustainable, zero-cost cloud infrastructure (MongoDB Atlas M0, Render, Pinecone Starter).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Demand race-condition proof balance decrements and cryptographic webhook signature verification.</a:t>
            </a:r>
          </a:p>
          <a:p>
            <a:pPr algn="just">
              <a:spcBef>
                <a:spcPts val="300"/>
              </a:spcBef>
              <a:defRPr sz="900">
                <a:solidFill>
                  <a:srgbClr val="334155"/>
                </a:solidFill>
                <a:latin typeface="Times New Roman"/>
              </a:defRPr>
            </a:pPr>
            <a:r>
              <a:t>• Benefit from role-gated admin dashboards rendering real-time token telemetry and model distribution.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PROJECT INITIATION (SECTION 13.D)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PLATFORM, EQUIPMENT &amp; RESOURCE IDENTIFICATION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Systematic specification of development hardware, runtime platforms, and external SDKs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4564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200">
                <a:solidFill>
                  <a:srgbClr val="0F172A"/>
                </a:solidFill>
                <a:latin typeface="Times New Roman"/>
              </a:defRPr>
            </a:pPr>
            <a:r>
              <a:t>HARDWARE RESOURCES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Times New Roman"/>
              </a:defRPr>
            </a:pPr>
            <a:r>
              <a:t>Workstation Specifications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Processor: Multi-core Intel Core i5/i7 or AMD Ryzen 5/7 (min. 4 physical cores).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System RAM: Minimum 8 GB (16 GB recommended for concurrent client/server development).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Storage: 256 GB NVMe SSD for sub-millisecond local read/write access.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Audio Peripherals: Microphone input and stereo output for Web Speech API testing.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Display: 1920 x 1080 Full HD (verified across responsive breakpoints).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691640"/>
            <a:ext cx="34564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200">
                <a:solidFill>
                  <a:srgbClr val="0F172A"/>
                </a:solidFill>
                <a:latin typeface="Times New Roman"/>
              </a:defRPr>
            </a:pPr>
            <a:r>
              <a:t>SOFTWARE &amp; PLATFORMS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Times New Roman"/>
              </a:defRPr>
            </a:pPr>
            <a:r>
              <a:t>Runtimes &amp; Frameworks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Operating System: Windows 11 / Linux (Ubuntu 22.04 LTS) / macOS.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Development Runtime: Node.js (v20+ LTS) with npm package manager.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Client Build Tool: Vite 6 with React 19 SPA framework.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Backend Framework: Express.js with modular router architecture.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Schema Validation: Zod (TypeScript-first declarative schema validation).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Testing Engine: Vitest &amp; Node native test runner.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691640"/>
            <a:ext cx="34564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200">
                <a:solidFill>
                  <a:srgbClr val="15803D"/>
                </a:solidFill>
                <a:latin typeface="Times New Roman"/>
              </a:defRPr>
            </a:pPr>
            <a:r>
              <a:t>EXTERNAL APIS &amp; SDKS</a:t>
            </a:r>
          </a:p>
          <a:p>
            <a:pPr>
              <a:spcBef>
                <a:spcPts val="200"/>
              </a:spcBef>
              <a:defRPr sz="950" b="1">
                <a:solidFill>
                  <a:srgbClr val="64748B"/>
                </a:solidFill>
                <a:latin typeface="Times New Roman"/>
              </a:defRPr>
            </a:pPr>
            <a:r>
              <a:t>Managed Cloud Integrations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AI Orchestration: Official Google GenAI SDK (@google/genai) for Gemini 3.5 Flash-Lite.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Vector Database SDK: @pinecone-database/pinecone for serverless vector indexing.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Document Processing: pdf-lib (pure JavaScript in-memory PDF generation).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Payment Gateway SDK: razorpay Node.js SDK with crypto webhook verification.</a:t>
            </a:r>
          </a:p>
          <a:p>
            <a:pPr algn="just">
              <a:spcBef>
                <a:spcPts val="5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Code Highlighting: highlight.js with language-specific tokenizers.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FULL-STACK SYSTEM ARCHITECTURE &amp; REQUEST LIFECYCLE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Strict multi-tier pipeline enforcing schema validation, role security, and balance 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5603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b="1" sz="1050">
                <a:solidFill>
                  <a:srgbClr val="16A34A"/>
                </a:solidFill>
                <a:latin typeface="Times New Roman"/>
              </a:defRPr>
            </a:pPr>
            <a:r>
              <a:t>STEP 1: INPUT VALIDATION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Times New Roman"/>
              </a:defRPr>
            </a:pPr>
            <a:r>
              <a:t>Express + Zod Middleware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HTTP request reaches API endpoint.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Zod schema inspects body &amp; params.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Malformed data rejected with 400 Bad Request before controllers.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91640"/>
            <a:ext cx="25603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b="1" sz="1050">
                <a:solidFill>
                  <a:srgbClr val="6366F1"/>
                </a:solidFill>
                <a:latin typeface="Times New Roman"/>
              </a:defRPr>
            </a:pPr>
            <a:r>
              <a:t>STEP 2: AUTH &amp; TENANCY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Times New Roman"/>
              </a:defRPr>
            </a:pPr>
            <a:r>
              <a:t>JWT Bearer Verification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JWT token decoded via jsonwebtoken.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Attaches authenticated userId to req.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Scopes 100% of Mongoose queries and Pinecone lookups to that user.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91640"/>
            <a:ext cx="25603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b="1" sz="1050">
                <a:solidFill>
                  <a:srgbClr val="D97706"/>
                </a:solidFill>
                <a:latin typeface="Times New Roman"/>
              </a:defRPr>
            </a:pPr>
            <a:r>
              <a:t>STEP 3: CREDIT PRE-CHECK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Times New Roman"/>
              </a:defRPr>
            </a:pPr>
            <a:r>
              <a:t>Credit Balance Guard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Middleware checks user.wallet credits.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If credits == 0, halts immediately with HTTP 402 INSUFFICIENT_CREDITS.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Prevents unpaid API burn and triggers UI recharge modal.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91640"/>
            <a:ext cx="256032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ctr">
              <a:defRPr b="1" sz="1050">
                <a:solidFill>
                  <a:srgbClr val="15803D"/>
                </a:solidFill>
                <a:latin typeface="Times New Roman"/>
              </a:defRPr>
            </a:pPr>
            <a:r>
              <a:t>STEP 4: AI &amp; ATOMIC DEDUCT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Times New Roman"/>
              </a:defRPr>
            </a:pPr>
            <a:r>
              <a:t>Gemini SDK + Mongoose $inc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Executes streaming call via SSE.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Extracts usageMetadata (exact tokens).</a:t>
            </a:r>
          </a:p>
          <a:p>
            <a:pPr algn="just">
              <a:spcBef>
                <a:spcPts val="400"/>
              </a:spcBef>
              <a:defRPr sz="880">
                <a:solidFill>
                  <a:srgbClr val="334155"/>
                </a:solidFill>
                <a:latin typeface="Times New Roman"/>
              </a:defRPr>
            </a:pPr>
            <a:r>
              <a:t>• Atomically deducts ceil(tokens/100) and commits to UsageLog.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rIns="182880"/>
          <a:lstStyle/>
          <a:p>
            <a:pPr algn="ctr">
              <a:defRPr b="1" sz="1100">
                <a:solidFill>
                  <a:srgbClr val="0F172A"/>
                </a:solidFill>
                <a:latin typeface="Times New Roman"/>
              </a:defRPr>
            </a:pPr>
            <a:r>
              <a:t>CORE DATA ISOLATION &amp; CONCURRENCY CONTROLS</a:t>
            </a:r>
          </a:p>
          <a:p>
            <a:pPr algn="just"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Race-Condition Prevention: Credits decremented via atomic Mongoose findOneAndUpdate with negative balance checks, preventing balance underflow.</a:t>
            </a:r>
          </a:p>
          <a:p>
            <a:pPr algn="just"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Strict Multi-Tenant Vector Isolation: Pinecone searches apply mandatory metadata filter { userId }, mathematically preventing cross-tenant leakage.</a:t>
            </a:r>
          </a:p>
          <a:p>
            <a:pPr algn="just">
              <a:spcBef>
                <a:spcPts val="3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Zero-Burn Policy on Error: If an LLM call fails halfway through streaming, the catch block intercepts and executes zero wallet deductions.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SECTION 10: 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CORE MODULES &amp; TECHNICAL WORKING DETAILS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Detailed examination of the conversational canvas, library vault, and viva simulator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15803D"/>
                </a:solidFill>
                <a:latin typeface="Times New Roman"/>
              </a:defRPr>
            </a:pPr>
            <a:r>
              <a:t>CHAT CANVAS &amp; TELEMETRY INSPECTOR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Minimalist Gemini-Style Interface: Clean 'Where should we start?' hero state with starter prompt suggestions and a glowing input bar.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Server-Sent Events (SSE) Streaming: Real-time token streaming with progressive text reveal, smooth auto-scroll, and stop generation controls.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Syntax-Highlighted Code Blocks: Highlight.js integration with sticky language headers, line formatting, and one-click clipboard copy.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Sliding Telemetry Inspector: Direct examiner defense drawer rendering live prompt/candidate token decomposition, latency in ms, and deduction math.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Project Workspaces: Dedicated environments with custom instructions and multi-file context injection up to 2MB directly into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2852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6366F1"/>
                </a:solidFill>
                <a:latin typeface="Times New Roman"/>
              </a:defRPr>
            </a:pPr>
            <a:r>
              <a:t>KNOWLEDGE VAULT &amp; ORAL VIVA SIMULATOR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Polymorphic Knowledge Store: Unified repository for saved bookmarks, technical notes, uploaded files, and viva interview transcripts.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Suggest -&gt; Review -&gt; Confirm: AI summaries and tags are staged in a review drawer; user can edit or discard before database commit.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In-Memory PDF Generation: Structured multi-section documents drafted by AI and exported into clean, print-ready PDF via pdf-lib.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Real-Time Speech Interaction: Native Web Speech API converts spoken student answers into text (STT) and reads examiner questions aloud (TTS).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• Objective Competency Scorecards: Produces 1–10 ratings across Technical Accuracy, Communication, and Depth; archived to Library.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SECTION 11: SYSTEM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ADVANTAGES, DISADVANTAGES &amp; LIMITATIONS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Objective engineering evaluation of system capabilities and current operational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15803D"/>
                </a:solidFill>
                <a:latin typeface="Times New Roman"/>
              </a:defRPr>
            </a:pPr>
            <a:r>
              <a:t>SYSTEM ADVANTAGES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Pay-As-You-Burn Economy: Eliminates rigid ₹2,000/month subscriptions; students pay micro-amounts for exact token consumption.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Single-Pane Productivity: Consolidates conversational AI, notes, prompt templating, and viva prep into a single responsive client.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Zero Hallucination Contamination: Enforces Suggest -&gt; Review -&gt; Confirm pattern; user must confirm AI summaries before write.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100% Free-Tier Operation: Runs sustainably on MongoDB Atlas M0, Pinecone Starter, Render, and Gemini Free API.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Production-Grade Verification: Hardened with 227 automated tests guaranteeing 100% regression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2852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DC2626"/>
                </a:solidFill>
                <a:latin typeface="Times New Roman"/>
              </a:defRPr>
            </a:pPr>
            <a:r>
              <a:t>DISADVANTAGES &amp; SYSTEM LIMITATIONS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✕ External API Dependency: Response latency and service availability remain tied to Google Gemini API uptime.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✕ Hardware Audio Constraints: Real-time speech recognition requires compatible microphones and modern Web Speech browser support.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✕ Free-Tier Rate Limits: Gemini free tier enforces 15 RPM (requests per minute) and 1,500 daily requests, requiring throttling.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✕ Cold Start Delays: Free-tier Render web services experience ~30-second cold starts after periods of complete inactivity.</a:t>
            </a:r>
          </a:p>
          <a:p>
            <a:pPr algn="just">
              <a:spcBef>
                <a:spcPts val="6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✕ Internet Requirement: Requires active internet connectivity; offline local LLM inference currently deferred to future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PROJECT INITIATION (RUBRICS 8 &amp; 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STAGES OF ACTION PLAN &amp; PROTOTYPING PROGRESS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Demonstrating concrete prototyping milestones and experimental test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5603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/>
          <a:lstStyle/>
          <a:p>
            <a:pPr algn="ctr">
              <a:defRPr b="1" sz="2600">
                <a:solidFill>
                  <a:srgbClr val="16A34A"/>
                </a:solidFill>
                <a:latin typeface="Times New Roman"/>
              </a:defRPr>
            </a:pPr>
            <a:r>
              <a:t>227</a:t>
            </a:r>
          </a:p>
          <a:p>
            <a:pPr algn="ctr">
              <a:defRPr b="1" sz="900">
                <a:solidFill>
                  <a:srgbClr val="0F172A"/>
                </a:solidFill>
                <a:latin typeface="Times New Roman"/>
              </a:defRPr>
            </a:pPr>
            <a:r>
              <a:t>AUTOMATED TESTS</a:t>
            </a:r>
          </a:p>
          <a:p>
            <a:pPr algn="ctr">
              <a:defRPr sz="800">
                <a:solidFill>
                  <a:srgbClr val="64748B"/>
                </a:solidFill>
                <a:latin typeface="Times New Roman"/>
              </a:defRPr>
            </a:pPr>
            <a:r>
              <a:t>127 Backend + 100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691640"/>
            <a:ext cx="25603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/>
          <a:lstStyle/>
          <a:p>
            <a:pPr algn="ctr">
              <a:defRPr b="1" sz="2600">
                <a:solidFill>
                  <a:srgbClr val="6366F1"/>
                </a:solidFill>
                <a:latin typeface="Times New Roman"/>
              </a:defRPr>
            </a:pPr>
            <a:r>
              <a:t>420 ms</a:t>
            </a:r>
          </a:p>
          <a:p>
            <a:pPr algn="ctr">
              <a:defRPr b="1" sz="900">
                <a:solidFill>
                  <a:srgbClr val="0F172A"/>
                </a:solidFill>
                <a:latin typeface="Times New Roman"/>
              </a:defRPr>
            </a:pPr>
            <a:r>
              <a:t>AVG. TTFB LATENCY</a:t>
            </a:r>
          </a:p>
          <a:p>
            <a:pPr algn="ctr">
              <a:defRPr sz="800">
                <a:solidFill>
                  <a:srgbClr val="64748B"/>
                </a:solidFill>
                <a:latin typeface="Times New Roman"/>
              </a:defRPr>
            </a:pPr>
            <a:r>
              <a:t>Gemini 3.5 Flash-Lite 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691640"/>
            <a:ext cx="25603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/>
          <a:lstStyle/>
          <a:p>
            <a:pPr algn="ctr">
              <a:defRPr b="1" sz="2600">
                <a:solidFill>
                  <a:srgbClr val="15803D"/>
                </a:solidFill>
                <a:latin typeface="Times New Roman"/>
              </a:defRPr>
            </a:pPr>
            <a:r>
              <a:t>97.5%</a:t>
            </a:r>
          </a:p>
          <a:p>
            <a:pPr algn="ctr">
              <a:defRPr b="1" sz="900">
                <a:solidFill>
                  <a:srgbClr val="0F172A"/>
                </a:solidFill>
                <a:latin typeface="Times New Roman"/>
              </a:defRPr>
            </a:pPr>
            <a:r>
              <a:t>STUDENT COST REDUCTION</a:t>
            </a:r>
          </a:p>
          <a:p>
            <a:pPr algn="ctr">
              <a:defRPr sz="800">
                <a:solidFill>
                  <a:srgbClr val="64748B"/>
                </a:solidFill>
                <a:latin typeface="Times New Roman"/>
              </a:defRPr>
            </a:pPr>
            <a:r>
              <a:t>vs ₹2,000/mo Subscriptions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06256" y="1691640"/>
            <a:ext cx="25603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37160"/>
          <a:lstStyle/>
          <a:p>
            <a:pPr algn="ctr">
              <a:defRPr b="1" sz="2600">
                <a:solidFill>
                  <a:srgbClr val="D97706"/>
                </a:solidFill>
                <a:latin typeface="Times New Roman"/>
              </a:defRPr>
            </a:pPr>
            <a:r>
              <a:t>100%</a:t>
            </a:r>
          </a:p>
          <a:p>
            <a:pPr algn="ctr">
              <a:defRPr b="1" sz="900">
                <a:solidFill>
                  <a:srgbClr val="0F172A"/>
                </a:solidFill>
                <a:latin typeface="Times New Roman"/>
              </a:defRPr>
            </a:pPr>
            <a:r>
              <a:t>FREE-TIER HOSTING</a:t>
            </a:r>
          </a:p>
          <a:p>
            <a:pPr algn="ctr">
              <a:defRPr sz="800">
                <a:solidFill>
                  <a:srgbClr val="64748B"/>
                </a:solidFill>
                <a:latin typeface="Times New Roman"/>
              </a:defRPr>
            </a:pPr>
            <a:r>
              <a:t>Zero Operational Cloud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25780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rIns="182880"/>
          <a:lstStyle/>
          <a:p>
            <a:pPr algn="ctr">
              <a:defRPr b="1" sz="1100">
                <a:solidFill>
                  <a:srgbClr val="15803D"/>
                </a:solidFill>
                <a:latin typeface="Times New Roman"/>
              </a:defRPr>
            </a:pPr>
            <a:r>
              <a:t>PROTOTYPING MILESTONES ACHIEVED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✓ Functional Conversational Engine: Real-time SSE streaming connected to Google Gemini with code highlighting.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✓ Active Vector RAG: Working dense vector search powered by Pinecone Serverless and text-embedding-004.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✓ Interactive Viva Simulator: Spoken oral Q&amp;A with live animated ripples and competency scoring.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✓ Wallet &amp; Billing Gateway: Working Razorpay test checkout with HMAC-SHA256 webhook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08960"/>
            <a:ext cx="5285232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 rIns="182880"/>
          <a:lstStyle/>
          <a:p>
            <a:pPr algn="ctr">
              <a:defRPr b="1" sz="1100">
                <a:solidFill>
                  <a:srgbClr val="6366F1"/>
                </a:solidFill>
                <a:latin typeface="Times New Roman"/>
              </a:defRPr>
            </a:pPr>
            <a:r>
              <a:t>SUBSEQUENT STAGES OF ACTION PLAN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Stage 1: Multi-Student Collaboration: Extending Project Workspaces with Role-Based Access Control (RBAC).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Stage 2: Comprehensive Capstone Reporting: Expanding technical documentation as per Semester VI MSBTE guidelines.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Stage 3: Offline Fallback Inference: Integrating local Ollama model options for air-gapped laboratory use.</a:t>
            </a:r>
          </a:p>
          <a:p>
            <a:pPr algn="just">
              <a:spcBef>
                <a:spcPts val="4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• Stage 4: Institutional Deployment: Piloting NexAI across polytechnic computer engineering laboratories.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SECTION 12: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SEMINAR CONCLUSION &amp; FULFILLMENT OF OUTCOMES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Synthesis of research findings, technical impact, and Course Outcome fulfillment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5780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15803D"/>
                </a:solidFill>
                <a:latin typeface="Times New Roman"/>
              </a:defRPr>
            </a:pPr>
            <a:r>
              <a:t>CORE ENGINEERING ACHIEVEMENTS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Defensible Full-Stack SaaS: Successfully transformed an academic seminar project into an auditable, production-ready SaaS utility platform.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Eliminated Knowledge Silos: Unified chat, semantic vector retrieval, reusable prompts, and viva prep into a single responsive client.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Fair-Share AI Economics: Proved the viability of pay-as-you-burn token metering backed by Razorpay test infrastructure, saving students 97%+.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Zero Silent Mutations: Enforced Human-in-the-Loop review gates and Pinecone vector grounding, permanently preventing AI hallucinations.</a:t>
            </a:r>
          </a:p>
          <a:p>
            <a:pPr algn="just">
              <a:spcBef>
                <a:spcPts val="6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✓ Production Quality: Hardened with 227 automated tests with zero regression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91640"/>
            <a:ext cx="52852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/>
          <a:lstStyle/>
          <a:p>
            <a:pPr algn="ctr">
              <a:defRPr b="1" sz="1150">
                <a:solidFill>
                  <a:srgbClr val="6366F1"/>
                </a:solidFill>
                <a:latin typeface="Times New Roman"/>
              </a:defRPr>
            </a:pPr>
            <a:r>
              <a:t>FULFILLMENT OF COURSE OUTCOMES (CO1 – CO5)</a:t>
            </a:r>
          </a:p>
          <a:p>
            <a:pPr>
              <a:spcBef>
                <a:spcPts val="500"/>
              </a:spcBef>
              <a:defRPr b="1" sz="980">
                <a:solidFill>
                  <a:srgbClr val="0F172A"/>
                </a:solidFill>
                <a:latin typeface="Times New Roman"/>
              </a:defRPr>
            </a:pPr>
            <a:r>
              <a:t>CO1: IDENTIFY TOPIC OF SEMINAR</a:t>
            </a:r>
          </a:p>
          <a:p>
            <a:pPr algn="just">
              <a:spcBef>
                <a:spcPts val="1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Identified the critical need for unified, utility-metered AI developer workspaces.</a:t>
            </a:r>
          </a:p>
          <a:p>
            <a:pPr>
              <a:spcBef>
                <a:spcPts val="500"/>
              </a:spcBef>
              <a:defRPr b="1" sz="980">
                <a:solidFill>
                  <a:srgbClr val="0F172A"/>
                </a:solidFill>
                <a:latin typeface="Times New Roman"/>
              </a:defRPr>
            </a:pPr>
            <a:r>
              <a:t>CO2: COLLECT RESEARCH-BASED DATA</a:t>
            </a:r>
          </a:p>
          <a:p>
            <a:pPr algn="just">
              <a:spcBef>
                <a:spcPts val="1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Conducted comprehensive literature survey of LLM architectures and pricing models.</a:t>
            </a:r>
          </a:p>
          <a:p>
            <a:pPr>
              <a:spcBef>
                <a:spcPts val="500"/>
              </a:spcBef>
              <a:defRPr b="1" sz="980">
                <a:solidFill>
                  <a:srgbClr val="0F172A"/>
                </a:solidFill>
                <a:latin typeface="Times New Roman"/>
              </a:defRPr>
            </a:pPr>
            <a:r>
              <a:t>CO3: APPLY PRESENTATION SKILLS</a:t>
            </a:r>
          </a:p>
          <a:p>
            <a:pPr algn="just">
              <a:spcBef>
                <a:spcPts val="1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Structured a 15-slide technical defense strictly adhering to Section VIII guidelines.</a:t>
            </a:r>
          </a:p>
          <a:p>
            <a:pPr>
              <a:spcBef>
                <a:spcPts val="500"/>
              </a:spcBef>
              <a:defRPr b="1" sz="980">
                <a:solidFill>
                  <a:srgbClr val="0F172A"/>
                </a:solidFill>
                <a:latin typeface="Times New Roman"/>
              </a:defRPr>
            </a:pPr>
            <a:r>
              <a:t>CO4: CREATE CONDUCIVE ENVIRONMENT</a:t>
            </a:r>
          </a:p>
          <a:p>
            <a:pPr algn="just">
              <a:spcBef>
                <a:spcPts val="1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Demonstrated live telemetry, interactive UI prototypes, and structured Q&amp;A exhibits.</a:t>
            </a:r>
          </a:p>
          <a:p>
            <a:pPr>
              <a:spcBef>
                <a:spcPts val="500"/>
              </a:spcBef>
              <a:defRPr b="1" sz="980">
                <a:solidFill>
                  <a:srgbClr val="0F172A"/>
                </a:solidFill>
                <a:latin typeface="Times New Roman"/>
              </a:defRPr>
            </a:pPr>
            <a:r>
              <a:t>CO5: ESTABLISH PROBLEM STATEMENT &amp; PLAN</a:t>
            </a:r>
          </a:p>
          <a:p>
            <a:pPr algn="just">
              <a:spcBef>
                <a:spcPts val="100"/>
              </a:spcBef>
              <a:defRPr sz="919">
                <a:solidFill>
                  <a:srgbClr val="334155"/>
                </a:solidFill>
                <a:latin typeface="Times New Roman"/>
              </a:defRPr>
            </a:pPr>
            <a:r>
              <a:t>Formulated the dual crisis problem statement and executed a 4-phase action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47548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/>
          <a:lstStyle/>
          <a:p>
            <a:pPr algn="ctr">
              <a:defRPr sz="950" b="1">
                <a:solidFill>
                  <a:srgbClr val="15803D"/>
                </a:solidFill>
                <a:latin typeface="Times New Roman"/>
              </a:defRPr>
            </a:pPr>
            <a:r>
              <a:t>SECTIONS 14 &amp; 15: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Times New Roman"/>
              </a:defRPr>
            </a:pPr>
            <a:r>
              <a:t>ACADEMIC BIBLIOGRAPHY &amp; TECHNICAL REFERENCES</a:t>
            </a:r>
          </a:p>
          <a:p>
            <a:pPr>
              <a:spcBef>
                <a:spcPts val="300"/>
              </a:spcBef>
              <a:defRPr sz="1150">
                <a:solidFill>
                  <a:srgbClr val="64748B"/>
                </a:solidFill>
                <a:latin typeface="Times New Roman"/>
              </a:defRPr>
            </a:pPr>
            <a:r>
              <a:t>Formatted strictly in IEEE standard format as required by MSBTE guidelines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728655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28600" rIns="228600"/>
          <a:lstStyle/>
          <a:p>
            <a:pPr algn="ctr">
              <a:defRPr b="1" sz="1200">
                <a:solidFill>
                  <a:srgbClr val="15803D"/>
                </a:solidFill>
                <a:latin typeface="Times New Roman"/>
              </a:defRPr>
            </a:pPr>
            <a:r>
              <a:t>FORMAL CITATIONS &amp; TECHNICAL DOCUMENTATION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[1] Lewis, P., Perez, E., Piktus, A., et al. (2020). 'Retrieval-Augmented Generation for Knowledge-Intensive NLP Tasks.' Advances in Neural Information Processing Systems (NeurIPS 2020), Vol. 33, pp. 9459-9474.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[2] Vaswani, A., Shazeer, N., Parmar, N., et al. (2017). 'Attention Is All You Need.' Advances in Neural Information Processing Systems (NeurIPS 2017), Vol. 30, pp. 5998-6008.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[3] Google DeepMind (2024). 'Gemini 1.5 &amp; Flash Technical Report: Scalable Multimodal Reasoning via Mixture-of-Experts.' arXiv preprint arXiv:2403.05530.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[4] Maharashtra State Board of Technical Education (2025). 'Curriculum &amp; Guidelines for Seminar &amp; Project Initiation Course (315003), K-Scheme Semester V.' MSBTE Approval Dt. 24/02/2025, Mumbai.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[5] Pinecone Systems (2024). 'Architecture and Scalability of Distributed Serverless Vector Database Indexes.' Pinecone Technical Documentation.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[6] Mozilla Developer Network (MDN) (2024). 'Web Speech API &amp; Server-Sent Events (SSE) Specifications.' MDN Web Docs, Mozilla Corporation.</a:t>
            </a:r>
          </a:p>
          <a:p>
            <a:pPr algn="just">
              <a:spcBef>
                <a:spcPts val="800"/>
              </a:spcBef>
              <a:defRPr sz="950">
                <a:solidFill>
                  <a:srgbClr val="334155"/>
                </a:solidFill>
                <a:latin typeface="Times New Roman"/>
              </a:defRPr>
            </a:pPr>
            <a:r>
              <a:t>[7] Razorpay Technologies (2025). 'Payment Gateway Integration, Order Verification &amp; Cryptographic Webhooks API Guide.' Razorpay Developer Docs.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Times New Roman"/>
              </a:defRPr>
            </a:pPr>
            <a:r>
              <a:t>MSBTE Seminar &amp; Project Initiation Course (Code: 315003, Sem V, K-Scheme) | NexAI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950" b="1">
                <a:solidFill>
                  <a:srgbClr val="16A34A"/>
                </a:solidFill>
                <a:latin typeface="Times New Roman"/>
              </a:defRPr>
            </a:pPr>
            <a:r>
              <a:t>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